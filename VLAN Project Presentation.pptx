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C Diary Girl" charset="1" panose="02000603000000000000"/>
      <p:regular r:id="rId16"/>
    </p:embeddedFont>
    <p:embeddedFont>
      <p:font typeface="AC Diary Girl Bold" charset="1" panose="02000603000000000000"/>
      <p:regular r:id="rId17"/>
    </p:embeddedFont>
    <p:embeddedFont>
      <p:font typeface="Nunito" charset="1" panose="00000000000000000000"/>
      <p:regular r:id="rId18"/>
    </p:embeddedFont>
    <p:embeddedFont>
      <p:font typeface="Canva Sans" charset="1" panose="020B0503030501040103"/>
      <p:regular r:id="rId19"/>
    </p:embeddedFont>
    <p:embeddedFont>
      <p:font typeface="Nunito Bold" charset="1" panose="00000000000000000000"/>
      <p:regular r:id="rId20"/>
    </p:embeddedFont>
    <p:embeddedFont>
      <p:font typeface="Canva Sans Bold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442">
            <a:off x="15105791" y="245822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25094" y="8627655"/>
            <a:ext cx="3434206" cy="630645"/>
          </a:xfrm>
          <a:custGeom>
            <a:avLst/>
            <a:gdLst/>
            <a:ahLst/>
            <a:cxnLst/>
            <a:rect r="r" b="b" t="t" l="l"/>
            <a:pathLst>
              <a:path h="630645" w="3434206">
                <a:moveTo>
                  <a:pt x="0" y="0"/>
                </a:moveTo>
                <a:lnTo>
                  <a:pt x="3434206" y="0"/>
                </a:lnTo>
                <a:lnTo>
                  <a:pt x="3434206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7417">
            <a:off x="1699513" y="6606455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7"/>
                </a:lnTo>
                <a:lnTo>
                  <a:pt x="0" y="25622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14689" y="4188778"/>
            <a:ext cx="12858622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Project 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43302" y="5898297"/>
            <a:ext cx="6801395" cy="142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337271"/>
                </a:solidFill>
                <a:latin typeface="AC Diary Girl Bold"/>
                <a:ea typeface="AC Diary Girl Bold"/>
                <a:cs typeface="AC Diary Girl Bold"/>
                <a:sym typeface="AC Diary Girl Bold"/>
              </a:rPr>
              <a:t> VLAN and Inter-VLAN Routing with FortiGate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214" y="3949688"/>
            <a:ext cx="4634336" cy="1193812"/>
            <a:chOff x="0" y="0"/>
            <a:chExt cx="1220566" cy="3144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0566" cy="314420"/>
            </a:xfrm>
            <a:custGeom>
              <a:avLst/>
              <a:gdLst/>
              <a:ahLst/>
              <a:cxnLst/>
              <a:rect r="r" b="b" t="t" l="l"/>
              <a:pathLst>
                <a:path h="314420" w="1220566">
                  <a:moveTo>
                    <a:pt x="0" y="0"/>
                  </a:moveTo>
                  <a:lnTo>
                    <a:pt x="1220566" y="0"/>
                  </a:lnTo>
                  <a:lnTo>
                    <a:pt x="1220566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20566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7214" y="5323161"/>
            <a:ext cx="4634336" cy="1193812"/>
            <a:chOff x="0" y="0"/>
            <a:chExt cx="1220566" cy="3144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0566" cy="314420"/>
            </a:xfrm>
            <a:custGeom>
              <a:avLst/>
              <a:gdLst/>
              <a:ahLst/>
              <a:cxnLst/>
              <a:rect r="r" b="b" t="t" l="l"/>
              <a:pathLst>
                <a:path h="314420" w="1220566">
                  <a:moveTo>
                    <a:pt x="0" y="0"/>
                  </a:moveTo>
                  <a:lnTo>
                    <a:pt x="1220566" y="0"/>
                  </a:lnTo>
                  <a:lnTo>
                    <a:pt x="1220566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20566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87214" y="8187034"/>
            <a:ext cx="4634336" cy="1193812"/>
            <a:chOff x="0" y="0"/>
            <a:chExt cx="1220566" cy="3144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0566" cy="314420"/>
            </a:xfrm>
            <a:custGeom>
              <a:avLst/>
              <a:gdLst/>
              <a:ahLst/>
              <a:cxnLst/>
              <a:rect r="r" b="b" t="t" l="l"/>
              <a:pathLst>
                <a:path h="314420" w="1220566">
                  <a:moveTo>
                    <a:pt x="0" y="0"/>
                  </a:moveTo>
                  <a:lnTo>
                    <a:pt x="1220566" y="0"/>
                  </a:lnTo>
                  <a:lnTo>
                    <a:pt x="1220566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20566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7214" y="6755097"/>
            <a:ext cx="4634336" cy="1193812"/>
            <a:chOff x="0" y="0"/>
            <a:chExt cx="1220566" cy="3144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0566" cy="314420"/>
            </a:xfrm>
            <a:custGeom>
              <a:avLst/>
              <a:gdLst/>
              <a:ahLst/>
              <a:cxnLst/>
              <a:rect r="r" b="b" t="t" l="l"/>
              <a:pathLst>
                <a:path h="314420" w="1220566">
                  <a:moveTo>
                    <a:pt x="0" y="0"/>
                  </a:moveTo>
                  <a:lnTo>
                    <a:pt x="1220566" y="0"/>
                  </a:lnTo>
                  <a:lnTo>
                    <a:pt x="1220566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20566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15690050" y="7739359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-746982" y="2320915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Our Team 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1860" y="4132748"/>
            <a:ext cx="3701169" cy="77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8"/>
              </a:lnSpc>
            </a:pPr>
            <a:r>
              <a:rPr lang="en-US" sz="352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Mohamed Ayman</a:t>
            </a:r>
          </a:p>
          <a:p>
            <a:pPr algn="ctr">
              <a:lnSpc>
                <a:spcPts val="117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44537" y="5537025"/>
            <a:ext cx="4119690" cy="74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Mohamed Nader</a:t>
            </a:r>
          </a:p>
          <a:p>
            <a:pPr algn="ctr">
              <a:lnSpc>
                <a:spcPts val="104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72599" y="8348959"/>
            <a:ext cx="4119690" cy="82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Moaz Mahmoud</a:t>
            </a:r>
          </a:p>
          <a:p>
            <a:pPr algn="ctr">
              <a:lnSpc>
                <a:spcPts val="104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744537" y="6905516"/>
            <a:ext cx="4119690" cy="80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Osama Ahmed</a:t>
            </a:r>
          </a:p>
          <a:p>
            <a:pPr algn="ctr">
              <a:lnSpc>
                <a:spcPts val="104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-746982" y="102870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747111" y="2822646"/>
            <a:ext cx="7631787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AC Diary Girl Bold"/>
                <a:ea typeface="AC Diary Girl Bold"/>
                <a:cs typeface="AC Diary Girl Bold"/>
                <a:sym typeface="AC Diary Girl Bold"/>
              </a:rPr>
              <a:t>UNDER SUPERVISION  :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66709" y="3949688"/>
            <a:ext cx="5134966" cy="1663537"/>
            <a:chOff x="0" y="0"/>
            <a:chExt cx="1352419" cy="4381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52419" cy="438133"/>
            </a:xfrm>
            <a:custGeom>
              <a:avLst/>
              <a:gdLst/>
              <a:ahLst/>
              <a:cxnLst/>
              <a:rect r="r" b="b" t="t" l="l"/>
              <a:pathLst>
                <a:path h="438133" w="1352419">
                  <a:moveTo>
                    <a:pt x="0" y="0"/>
                  </a:moveTo>
                  <a:lnTo>
                    <a:pt x="1352419" y="0"/>
                  </a:lnTo>
                  <a:lnTo>
                    <a:pt x="1352419" y="438133"/>
                  </a:lnTo>
                  <a:lnTo>
                    <a:pt x="0" y="438133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52419" cy="476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117024" y="4441376"/>
            <a:ext cx="4634336" cy="6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DR. H</a:t>
            </a: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ussein Harb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66709" y="5859739"/>
            <a:ext cx="5134966" cy="1790717"/>
            <a:chOff x="0" y="0"/>
            <a:chExt cx="1352419" cy="4716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52419" cy="471629"/>
            </a:xfrm>
            <a:custGeom>
              <a:avLst/>
              <a:gdLst/>
              <a:ahLst/>
              <a:cxnLst/>
              <a:rect r="r" b="b" t="t" l="l"/>
              <a:pathLst>
                <a:path h="471629" w="1352419">
                  <a:moveTo>
                    <a:pt x="0" y="0"/>
                  </a:moveTo>
                  <a:lnTo>
                    <a:pt x="1352419" y="0"/>
                  </a:lnTo>
                  <a:lnTo>
                    <a:pt x="1352419" y="471629"/>
                  </a:lnTo>
                  <a:lnTo>
                    <a:pt x="0" y="471629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52419" cy="509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528150" y="6141613"/>
            <a:ext cx="3812084" cy="61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ENG  Alaa Elnemr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96206" y="2055825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6950" y="4184627"/>
            <a:ext cx="15994101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Overview: This project focuses on implementing VLANs (Virtual Local Area Networks) and inter-VLAN routing using FortiGate firewalls to enhance network security and efficiency.</a:t>
            </a:r>
          </a:p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Background: VLANs allow logical segmentation of networks, while inter-VLAN routing enables communication between segments. FortiGate integrates firewall policies for secure traffic control.</a:t>
            </a:r>
          </a:p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Importance: Essential for enterprise networks to isolate traffic, reduce broadcast domains, and prevent unauthorized access.</a:t>
            </a:r>
          </a:p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Project Duration: 4 weeks, covering basics to advanced features.</a:t>
            </a:r>
          </a:p>
          <a:p>
            <a:pPr algn="ctr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6206" y="324257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Project Goals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06006" y="9057766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82033" y="2999297"/>
            <a:ext cx="14123933" cy="306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217" indent="-331108" lvl="1">
              <a:lnSpc>
                <a:spcPts val="4294"/>
              </a:lnSpc>
              <a:buFont typeface="Arial"/>
              <a:buChar char="•"/>
            </a:pPr>
            <a:r>
              <a:rPr lang="en-US" b="true" sz="3067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Primary Goals:</a:t>
            </a:r>
          </a:p>
          <a:p>
            <a:pPr algn="l" marL="1324433" indent="-441478" lvl="2">
              <a:lnSpc>
                <a:spcPts val="4294"/>
              </a:lnSpc>
              <a:buFont typeface="Arial"/>
              <a:buChar char="⚬"/>
            </a:pPr>
            <a:r>
              <a:rPr lang="en-US" b="true" sz="3067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Set up an</a:t>
            </a:r>
            <a:r>
              <a:rPr lang="en-US" b="true" sz="3067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configure VLANs on network switches.</a:t>
            </a:r>
          </a:p>
          <a:p>
            <a:pPr algn="l" marL="1324433" indent="-441478" lvl="2">
              <a:lnSpc>
                <a:spcPts val="4294"/>
              </a:lnSpc>
              <a:buFont typeface="Arial"/>
              <a:buChar char="⚬"/>
            </a:pPr>
            <a:r>
              <a:rPr lang="en-US" b="true" sz="3067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 inter-VLAN routing for communication between VLANs.</a:t>
            </a:r>
          </a:p>
          <a:p>
            <a:pPr algn="l" marL="1324433" indent="-441478" lvl="2">
              <a:lnSpc>
                <a:spcPts val="4294"/>
              </a:lnSpc>
              <a:buFont typeface="Arial"/>
              <a:buChar char="⚬"/>
            </a:pPr>
            <a:r>
              <a:rPr lang="en-US" b="true" sz="3067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 FortiGate for secure routing and firewall policies.</a:t>
            </a:r>
          </a:p>
          <a:p>
            <a:pPr algn="ctr">
              <a:lnSpc>
                <a:spcPts val="744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30061" y="5539639"/>
            <a:ext cx="13108503" cy="1581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Expected Outcomes: </a:t>
            </a:r>
            <a:r>
              <a:rPr lang="en-US" b="true" sz="3000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fully functional segmented network with documented configurations, diagrams, and testing reports.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230061" y="7073163"/>
            <a:ext cx="13975906" cy="1091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84" indent="-323842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Benefits: Improve</a:t>
            </a:r>
            <a:r>
              <a:rPr lang="en-US" b="true" sz="2999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security, scalability, and performance in network environments.</a:t>
            </a:r>
          </a:p>
          <a:p>
            <a:pPr algn="ctr">
              <a:lnSpc>
                <a:spcPts val="14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2539" y="3498879"/>
            <a:ext cx="8103644" cy="4826022"/>
            <a:chOff x="0" y="0"/>
            <a:chExt cx="2134293" cy="12710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34293" cy="1271051"/>
            </a:xfrm>
            <a:custGeom>
              <a:avLst/>
              <a:gdLst/>
              <a:ahLst/>
              <a:cxnLst/>
              <a:rect r="r" b="b" t="t" l="l"/>
              <a:pathLst>
                <a:path h="1271051" w="2134293">
                  <a:moveTo>
                    <a:pt x="0" y="0"/>
                  </a:moveTo>
                  <a:lnTo>
                    <a:pt x="2134293" y="0"/>
                  </a:lnTo>
                  <a:lnTo>
                    <a:pt x="2134293" y="1271051"/>
                  </a:lnTo>
                  <a:lnTo>
                    <a:pt x="0" y="1271051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34293" cy="1309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96206" y="506031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Problems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0642" y="4174898"/>
            <a:ext cx="8165540" cy="402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101" indent="-273550" lvl="1">
              <a:lnSpc>
                <a:spcPts val="3547"/>
              </a:lnSpc>
              <a:buFont typeface="Arial"/>
              <a:buChar char="•"/>
            </a:pPr>
            <a:r>
              <a:rPr lang="en-US" b="true" sz="253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Common Challenges:</a:t>
            </a:r>
          </a:p>
          <a:p>
            <a:pPr algn="l" marL="1094202" indent="-364734" lvl="2">
              <a:lnSpc>
                <a:spcPts val="3547"/>
              </a:lnSpc>
              <a:buFont typeface="Arial"/>
              <a:buChar char="⚬"/>
            </a:pPr>
            <a:r>
              <a:rPr lang="en-US" b="true" sz="253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Misconfiguration of VLAN trunks leading to traffic isolation.</a:t>
            </a:r>
          </a:p>
          <a:p>
            <a:pPr algn="l" marL="1094202" indent="-364734" lvl="2">
              <a:lnSpc>
                <a:spcPts val="3547"/>
              </a:lnSpc>
              <a:buFont typeface="Arial"/>
              <a:buChar char="⚬"/>
            </a:pPr>
            <a:r>
              <a:rPr lang="en-US" b="true" sz="253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Firewall policies blocking legitimate inter-VLAN traffic.</a:t>
            </a:r>
          </a:p>
          <a:p>
            <a:pPr algn="l" marL="1094202" indent="-364734" lvl="2">
              <a:lnSpc>
                <a:spcPts val="3547"/>
              </a:lnSpc>
              <a:buFont typeface="Arial"/>
              <a:buChar char="⚬"/>
            </a:pPr>
            <a:r>
              <a:rPr lang="en-US" b="true" sz="253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Routing issues like subnet mismatches or loops.</a:t>
            </a:r>
          </a:p>
          <a:p>
            <a:pPr algn="l" marL="1094202" indent="-364734" lvl="2">
              <a:lnSpc>
                <a:spcPts val="3547"/>
              </a:lnSpc>
              <a:buFont typeface="Arial"/>
              <a:buChar char="⚬"/>
            </a:pPr>
            <a:r>
              <a:rPr lang="en-US" b="true" sz="253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Compatibility between switches and FortiGate interfaces.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11991" y="3330348"/>
            <a:ext cx="2365022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C Diary Girl"/>
                <a:ea typeface="AC Diary Girl"/>
                <a:cs typeface="AC Diary Girl"/>
                <a:sym typeface="AC Diary Girl"/>
              </a:rPr>
              <a:t>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95543" y="3498879"/>
            <a:ext cx="8103644" cy="4826022"/>
            <a:chOff x="0" y="0"/>
            <a:chExt cx="2134293" cy="12710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4293" cy="1271051"/>
            </a:xfrm>
            <a:custGeom>
              <a:avLst/>
              <a:gdLst/>
              <a:ahLst/>
              <a:cxnLst/>
              <a:rect r="r" b="b" t="t" l="l"/>
              <a:pathLst>
                <a:path h="1271051" w="2134293">
                  <a:moveTo>
                    <a:pt x="0" y="0"/>
                  </a:moveTo>
                  <a:lnTo>
                    <a:pt x="2134293" y="0"/>
                  </a:lnTo>
                  <a:lnTo>
                    <a:pt x="2134293" y="1271051"/>
                  </a:lnTo>
                  <a:lnTo>
                    <a:pt x="0" y="1271051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34293" cy="1309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308413" y="4666779"/>
            <a:ext cx="7113792" cy="302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713" indent="-370356" lvl="1">
              <a:lnSpc>
                <a:spcPts val="4803"/>
              </a:lnSpc>
              <a:buFont typeface="Arial"/>
              <a:buChar char="•"/>
            </a:pPr>
            <a:r>
              <a:rPr lang="en-US" sz="343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Potential Risks:</a:t>
            </a:r>
          </a:p>
          <a:p>
            <a:pPr algn="l" marL="740713" indent="-370356" lvl="1">
              <a:lnSpc>
                <a:spcPts val="4803"/>
              </a:lnSpc>
              <a:buFont typeface="Arial"/>
              <a:buChar char="•"/>
            </a:pPr>
            <a:r>
              <a:rPr lang="en-US" sz="343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Security vulnerabilities if policies are not properly set.</a:t>
            </a:r>
          </a:p>
          <a:p>
            <a:pPr algn="l" marL="740713" indent="-370356" lvl="1">
              <a:lnSpc>
                <a:spcPts val="4803"/>
              </a:lnSpc>
              <a:buFont typeface="Arial"/>
              <a:buChar char="•"/>
            </a:pPr>
            <a:r>
              <a:rPr lang="en-US" sz="343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Network downtime during testing.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09282" y="3330348"/>
            <a:ext cx="2365022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C Diary Girl"/>
                <a:ea typeface="AC Diary Girl"/>
                <a:cs typeface="AC Diary Girl"/>
                <a:sym typeface="AC Diary Girl"/>
              </a:rPr>
              <a:t>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422206" y="7200900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8" y="0"/>
                </a:lnTo>
                <a:lnTo>
                  <a:pt x="29776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736271" y="-615921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58692" y="3614092"/>
            <a:ext cx="1393186" cy="1125001"/>
            <a:chOff x="0" y="0"/>
            <a:chExt cx="366930" cy="2962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6930" cy="296297"/>
            </a:xfrm>
            <a:custGeom>
              <a:avLst/>
              <a:gdLst/>
              <a:ahLst/>
              <a:cxnLst/>
              <a:rect r="r" b="b" t="t" l="l"/>
              <a:pathLst>
                <a:path h="296297" w="366930">
                  <a:moveTo>
                    <a:pt x="0" y="0"/>
                  </a:moveTo>
                  <a:lnTo>
                    <a:pt x="366930" y="0"/>
                  </a:lnTo>
                  <a:lnTo>
                    <a:pt x="366930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6930" cy="334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46771" y="4461140"/>
            <a:ext cx="5787728" cy="4118257"/>
            <a:chOff x="0" y="0"/>
            <a:chExt cx="1524340" cy="10846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340" cy="1084644"/>
            </a:xfrm>
            <a:custGeom>
              <a:avLst/>
              <a:gdLst/>
              <a:ahLst/>
              <a:cxnLst/>
              <a:rect r="r" b="b" t="t" l="l"/>
              <a:pathLst>
                <a:path h="1084644" w="1524340">
                  <a:moveTo>
                    <a:pt x="133764" y="0"/>
                  </a:moveTo>
                  <a:lnTo>
                    <a:pt x="1390575" y="0"/>
                  </a:lnTo>
                  <a:cubicBezTo>
                    <a:pt x="1426052" y="0"/>
                    <a:pt x="1460076" y="14093"/>
                    <a:pt x="1485161" y="39179"/>
                  </a:cubicBezTo>
                  <a:cubicBezTo>
                    <a:pt x="1510247" y="64264"/>
                    <a:pt x="1524340" y="98288"/>
                    <a:pt x="1524340" y="133764"/>
                  </a:cubicBezTo>
                  <a:lnTo>
                    <a:pt x="1524340" y="950879"/>
                  </a:lnTo>
                  <a:cubicBezTo>
                    <a:pt x="1524340" y="1024755"/>
                    <a:pt x="1464452" y="1084644"/>
                    <a:pt x="1390575" y="1084644"/>
                  </a:cubicBezTo>
                  <a:lnTo>
                    <a:pt x="133764" y="1084644"/>
                  </a:lnTo>
                  <a:cubicBezTo>
                    <a:pt x="59888" y="1084644"/>
                    <a:pt x="0" y="1024755"/>
                    <a:pt x="0" y="950879"/>
                  </a:cubicBezTo>
                  <a:lnTo>
                    <a:pt x="0" y="133764"/>
                  </a:lnTo>
                  <a:cubicBezTo>
                    <a:pt x="0" y="98288"/>
                    <a:pt x="14093" y="64264"/>
                    <a:pt x="39179" y="39179"/>
                  </a:cubicBezTo>
                  <a:cubicBezTo>
                    <a:pt x="64264" y="14093"/>
                    <a:pt x="98288" y="0"/>
                    <a:pt x="13376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337271"/>
              </a:solidFill>
              <a:prstDash val="lg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24340" cy="1122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796206" y="1450427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Process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89646" y="4949786"/>
            <a:ext cx="5380830" cy="3256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1824" indent="-285912" lvl="1">
              <a:lnSpc>
                <a:spcPts val="3707"/>
              </a:lnSpc>
              <a:buFont typeface="Arial"/>
              <a:buChar char="•"/>
            </a:pPr>
            <a:r>
              <a:rPr lang="en-US" b="true" sz="2648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Week 1: VLAN Basics – Create VLANs, assign ports, configure basic routing.</a:t>
            </a:r>
          </a:p>
          <a:p>
            <a:pPr algn="ctr" marL="571824" indent="-285912" lvl="1">
              <a:lnSpc>
                <a:spcPts val="3707"/>
              </a:lnSpc>
              <a:buFont typeface="Arial"/>
              <a:buChar char="•"/>
            </a:pPr>
            <a:r>
              <a:rPr lang="en-US" b="true" sz="2648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Week 2: FortiGate Integration – Set up VLAN interfaces, routing, and firewall policies on FortiGate.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564469" y="3614092"/>
            <a:ext cx="1393186" cy="1125001"/>
            <a:chOff x="0" y="0"/>
            <a:chExt cx="366930" cy="2962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6930" cy="296297"/>
            </a:xfrm>
            <a:custGeom>
              <a:avLst/>
              <a:gdLst/>
              <a:ahLst/>
              <a:cxnLst/>
              <a:rect r="r" b="b" t="t" l="l"/>
              <a:pathLst>
                <a:path h="296297" w="366930">
                  <a:moveTo>
                    <a:pt x="0" y="0"/>
                  </a:moveTo>
                  <a:lnTo>
                    <a:pt x="366930" y="0"/>
                  </a:lnTo>
                  <a:lnTo>
                    <a:pt x="366930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66930" cy="334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74358" y="4444436"/>
            <a:ext cx="5757596" cy="4118257"/>
            <a:chOff x="0" y="0"/>
            <a:chExt cx="1516404" cy="10846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16404" cy="1084644"/>
            </a:xfrm>
            <a:custGeom>
              <a:avLst/>
              <a:gdLst/>
              <a:ahLst/>
              <a:cxnLst/>
              <a:rect r="r" b="b" t="t" l="l"/>
              <a:pathLst>
                <a:path h="1084644" w="1516404">
                  <a:moveTo>
                    <a:pt x="134464" y="0"/>
                  </a:moveTo>
                  <a:lnTo>
                    <a:pt x="1381939" y="0"/>
                  </a:lnTo>
                  <a:cubicBezTo>
                    <a:pt x="1417601" y="0"/>
                    <a:pt x="1451803" y="14167"/>
                    <a:pt x="1477020" y="39384"/>
                  </a:cubicBezTo>
                  <a:cubicBezTo>
                    <a:pt x="1502237" y="64601"/>
                    <a:pt x="1516404" y="98802"/>
                    <a:pt x="1516404" y="134464"/>
                  </a:cubicBezTo>
                  <a:lnTo>
                    <a:pt x="1516404" y="950179"/>
                  </a:lnTo>
                  <a:cubicBezTo>
                    <a:pt x="1516404" y="985842"/>
                    <a:pt x="1502237" y="1020043"/>
                    <a:pt x="1477020" y="1045260"/>
                  </a:cubicBezTo>
                  <a:cubicBezTo>
                    <a:pt x="1451803" y="1070477"/>
                    <a:pt x="1417601" y="1084644"/>
                    <a:pt x="1381939" y="1084644"/>
                  </a:cubicBezTo>
                  <a:lnTo>
                    <a:pt x="134464" y="1084644"/>
                  </a:lnTo>
                  <a:cubicBezTo>
                    <a:pt x="98802" y="1084644"/>
                    <a:pt x="64601" y="1070477"/>
                    <a:pt x="39384" y="1045260"/>
                  </a:cubicBezTo>
                  <a:cubicBezTo>
                    <a:pt x="14167" y="1020043"/>
                    <a:pt x="0" y="985842"/>
                    <a:pt x="0" y="950179"/>
                  </a:cubicBezTo>
                  <a:lnTo>
                    <a:pt x="0" y="134464"/>
                  </a:lnTo>
                  <a:cubicBezTo>
                    <a:pt x="0" y="98802"/>
                    <a:pt x="14167" y="64601"/>
                    <a:pt x="39384" y="39384"/>
                  </a:cubicBezTo>
                  <a:cubicBezTo>
                    <a:pt x="64601" y="14167"/>
                    <a:pt x="98802" y="0"/>
                    <a:pt x="13446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337271"/>
              </a:solidFill>
              <a:prstDash val="lgDash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16404" cy="1122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574007" y="4923508"/>
            <a:ext cx="5158297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Week 3: Advanced Features – Implement trunks, test communication, and troubleshoot.</a:t>
            </a:r>
          </a:p>
          <a:p>
            <a:pPr algn="ctr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Week 4: Documentation – Compile reports, diagrams, and prepare presentation.</a:t>
            </a:r>
          </a:p>
          <a:p>
            <a:pPr algn="ctr">
              <a:lnSpc>
                <a:spcPts val="363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4209271" y="3654305"/>
            <a:ext cx="1092028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15048" y="3742528"/>
            <a:ext cx="1092028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2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54090" y="1006671"/>
            <a:ext cx="4979821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Result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2218" y="3589571"/>
            <a:ext cx="9959673" cy="546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0939" indent="-280469" lvl="1">
              <a:lnSpc>
                <a:spcPts val="3637"/>
              </a:lnSpc>
              <a:buFont typeface="Arial"/>
              <a:buChar char="•"/>
            </a:pPr>
            <a:r>
              <a:rPr lang="en-US" b="true" sz="2598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Achievements:</a:t>
            </a:r>
          </a:p>
          <a:p>
            <a:pPr algn="l" marL="1121878" indent="-373959" lvl="2">
              <a:lnSpc>
                <a:spcPts val="3637"/>
              </a:lnSpc>
              <a:buFont typeface="Arial"/>
              <a:buChar char="⚬"/>
            </a:pPr>
            <a:r>
              <a:rPr lang="en-US" b="true" sz="2598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Successfully configured VLANs (e.g., VLAN 5 and VLAN 10) with isolated traffic.</a:t>
            </a:r>
          </a:p>
          <a:p>
            <a:pPr algn="l" marL="1121878" indent="-373959" lvl="2">
              <a:lnSpc>
                <a:spcPts val="3637"/>
              </a:lnSpc>
              <a:buFont typeface="Arial"/>
              <a:buChar char="⚬"/>
            </a:pPr>
            <a:r>
              <a:rPr lang="en-US" b="true" sz="2598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Enabled inter-VLAN routing via FortiGate, allowing controlled communication.</a:t>
            </a:r>
          </a:p>
          <a:p>
            <a:pPr algn="l" marL="1121878" indent="-373959" lvl="2">
              <a:lnSpc>
                <a:spcPts val="3637"/>
              </a:lnSpc>
              <a:buFont typeface="Arial"/>
              <a:buChar char="⚬"/>
            </a:pPr>
            <a:r>
              <a:rPr lang="en-US" b="true" sz="2598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Implemented firewall policies to secure traffic (e.g., allow HTTP, block ICMP).</a:t>
            </a:r>
          </a:p>
          <a:p>
            <a:pPr algn="l" marL="560939" indent="-280469" lvl="1">
              <a:lnSpc>
                <a:spcPts val="3637"/>
              </a:lnSpc>
              <a:buFont typeface="Arial"/>
              <a:buChar char="•"/>
            </a:pPr>
            <a:r>
              <a:rPr lang="en-US" b="true" sz="2598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Testing Outcomes:</a:t>
            </a:r>
          </a:p>
          <a:p>
            <a:pPr algn="l" marL="1121878" indent="-373959" lvl="2">
              <a:lnSpc>
                <a:spcPts val="3637"/>
              </a:lnSpc>
              <a:buFont typeface="Arial"/>
              <a:buChar char="⚬"/>
            </a:pPr>
            <a:r>
              <a:rPr lang="en-US" b="true" sz="2598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Inter-VLAN pings succeeded through FortiGate.</a:t>
            </a:r>
          </a:p>
          <a:p>
            <a:pPr algn="l" marL="1121878" indent="-373959" lvl="2">
              <a:lnSpc>
                <a:spcPts val="3637"/>
              </a:lnSpc>
              <a:buFont typeface="Arial"/>
              <a:buChar char="⚬"/>
            </a:pPr>
            <a:r>
              <a:rPr lang="en-US" b="true" sz="2598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Trunk ports handled tagged traffic correctly.</a:t>
            </a:r>
          </a:p>
          <a:p>
            <a:pPr algn="l" marL="1121878" indent="-373959" lvl="2">
              <a:lnSpc>
                <a:spcPts val="3637"/>
              </a:lnSpc>
              <a:buFont typeface="Arial"/>
              <a:buChar char="⚬"/>
            </a:pPr>
            <a:r>
              <a:rPr lang="en-US" b="true" sz="2598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No security breaches in simulated scenarios.</a:t>
            </a:r>
          </a:p>
          <a:p>
            <a:pPr algn="ctr">
              <a:lnSpc>
                <a:spcPts val="3637"/>
              </a:lnSpc>
            </a:pP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04613" y="3672814"/>
            <a:ext cx="6228704" cy="5349172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6206" y="771525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0846" y="2907961"/>
            <a:ext cx="16938885" cy="483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4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Summary: The project demonstrated the effective use of VLANs and FortiGate for secure, segmented networks, achieving all goals through structured implementation.</a:t>
            </a:r>
          </a:p>
          <a:p>
            <a:pPr algn="ctr" marL="647704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Key Learnings: VLANs reduce broadcast domains; FortiGate enhances security with policies; thorough testing prevents issues.</a:t>
            </a:r>
          </a:p>
          <a:p>
            <a:pPr algn="ctr" marL="647704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Applications: Applicable in enterprises for departments like Sales and IT, or secure guest networks.</a:t>
            </a:r>
          </a:p>
          <a:p>
            <a:pPr algn="ctr" marL="647704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Recommendations: Explore advanced topics like VLAN or integrate with SD-WAN for future projects.</a:t>
            </a:r>
          </a:p>
          <a:p>
            <a:pPr algn="ctr" marL="647704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Final Note: This hands-on experience builds skills in network engineering and cybersecurity.</a:t>
            </a:r>
          </a:p>
          <a:p>
            <a:pPr algn="ctr">
              <a:lnSpc>
                <a:spcPts val="10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5690050" y="7739359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46982" y="102870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6206" y="4200526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Q&amp;A Session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465442">
            <a:off x="15105791" y="245822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62311" y="8487580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37417">
            <a:off x="1699513" y="6606455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7"/>
                </a:lnTo>
                <a:lnTo>
                  <a:pt x="0" y="25622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65218" y="3200400"/>
            <a:ext cx="8695587" cy="403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62311" y="8487580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8246">
            <a:off x="3423654" y="3579497"/>
            <a:ext cx="4333509" cy="3128006"/>
          </a:xfrm>
          <a:custGeom>
            <a:avLst/>
            <a:gdLst/>
            <a:ahLst/>
            <a:cxnLst/>
            <a:rect r="r" b="b" t="t" l="l"/>
            <a:pathLst>
              <a:path h="3128006" w="4333509">
                <a:moveTo>
                  <a:pt x="0" y="0"/>
                </a:moveTo>
                <a:lnTo>
                  <a:pt x="4333509" y="0"/>
                </a:lnTo>
                <a:lnTo>
                  <a:pt x="4333509" y="3128006"/>
                </a:lnTo>
                <a:lnTo>
                  <a:pt x="0" y="31280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DAG55q0T3pM</dc:identifier>
  <dcterms:modified xsi:type="dcterms:W3CDTF">2011-08-01T06:04:30Z</dcterms:modified>
  <cp:revision>1</cp:revision>
  <dc:title>Green and Beige Simple Project Presentation</dc:title>
</cp:coreProperties>
</file>